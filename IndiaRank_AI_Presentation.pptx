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4476" cy="457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4476" y="0"/>
            <a:ext cx="6094476" cy="45720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5720"/>
            <a:ext cx="54864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457200"/>
            <a:ext cx="2926080" cy="365760"/>
          </a:xfrm>
          <a:prstGeom prst="rect">
            <a:avLst/>
          </a:prstGeom>
          <a:solidFill>
            <a:srgbClr val="1F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47548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8A6FF"/>
                </a:solidFill>
              </a:rPr>
              <a:t>🏆  India Runs Hackathon 2026  ·  Data &amp; AI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</a:rPr>
              <a:t>IndiaRank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68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78C00"/>
                </a:solidFill>
              </a:rPr>
              <a:t>Team Name: [Your Team Name]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34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78C00"/>
                </a:solidFill>
              </a:rPr>
              <a:t>Team Leader Name: [Your Name]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91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58A6FF"/>
                </a:solidFill>
              </a:rPr>
              <a:t>Problem Statement: Data &amp; AI Challenge - Intelligent Candidate Discovery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840480"/>
            <a:ext cx="228600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34640" y="3840480"/>
            <a:ext cx="2286000" cy="36576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4389120"/>
            <a:ext cx="237744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4805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58A6FF"/>
                </a:solidFill>
              </a:rPr>
              <a:t>100,000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029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</a:rPr>
              <a:t>Candidates Ranked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4389120"/>
            <a:ext cx="237744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0" y="44805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3FB950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5029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</a:rPr>
              <a:t>Scoring Layers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4389120"/>
            <a:ext cx="237744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F7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44805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78C00"/>
                </a:solidFill>
              </a:rPr>
              <a:t>23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5029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</a:rPr>
              <a:t>Behavioral Signals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78240" y="4389120"/>
            <a:ext cx="237744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D2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0" y="44805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D2A8FF"/>
                </a:solidFill>
              </a:rPr>
              <a:t>&lt;60s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5029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</a:rPr>
              <a:t>Ranking Time (CPU)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812280"/>
            <a:ext cx="6094476" cy="457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94476" y="6812280"/>
            <a:ext cx="6094476" cy="45720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Solution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40080"/>
            <a:ext cx="182880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194560" y="640080"/>
            <a:ext cx="1828800" cy="36576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822960"/>
            <a:ext cx="5577840" cy="530352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9144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8A6FF"/>
                </a:solidFill>
              </a:rPr>
              <a:t>🧠  What is IndiaRank AI?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41732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 5-layer intelligent ranking engine that ranks 100,000 candidates against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9164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 Senior AI/ML Engineer Job Description — without any pre-labelled data.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96596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07568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FB950"/>
                </a:solidFill>
              </a:rPr>
              <a:t>Key breakthrough: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35000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• Reads what the JD means, not just what it says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624327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• Rewards production ML engineers — not keyword stuffers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898647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• Penalises unavailable candidates regardless of skill match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172967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• Automatically detects fraudulent/honeypot profiles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447287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• Produces auditable per-candidate reasoning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822960"/>
            <a:ext cx="5577840" cy="5303520"/>
          </a:xfrm>
          <a:prstGeom prst="rect">
            <a:avLst/>
          </a:prstGeom>
          <a:solidFill>
            <a:srgbClr val="161B22"/>
          </a:solidFill>
          <a:ln w="12700">
            <a:solidFill>
              <a:srgbClr val="F7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9144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78C00"/>
                </a:solidFill>
              </a:rPr>
              <a:t>⚡  What Makes Us Different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1417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72"/>
                </a:solidFill>
              </a:rPr>
              <a:t>❌  Traditional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14173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FB950"/>
                </a:solidFill>
              </a:rPr>
              <a:t>✅  IndiaRank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1737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• BM25 keyword search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17373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FB950"/>
                </a:solidFill>
              </a:rPr>
              <a:t>✓ BGE semantic embeddings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2240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• Skill list = match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22402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FB950"/>
                </a:solidFill>
              </a:rPr>
              <a:t>✓ Duration × Proficiency × Assessment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• Ignore availability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27432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FB950"/>
                </a:solidFill>
              </a:rPr>
              <a:t>✓ 23 behavioral signals as modifier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3246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• No fraud detection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32461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FB950"/>
                </a:solidFill>
              </a:rPr>
              <a:t>✓ 8-rule honeypot detection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374903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• No reasoning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3749039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FB950"/>
                </a:solidFill>
              </a:rPr>
              <a:t>✓ Explainable per-candidate score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425195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• Flat scoring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40" y="4251959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FB950"/>
                </a:solidFill>
              </a:rPr>
              <a:t>✓ NDCG@10 optimized weighting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JD Understanding &amp; Candidate Evaluation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40080"/>
            <a:ext cx="274320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108960" y="640080"/>
            <a:ext cx="2743200" cy="36576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777240"/>
            <a:ext cx="5760720" cy="557784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68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8A6FF"/>
                </a:solidFill>
              </a:rPr>
              <a:t>📋  Key JD Requirements Extracted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258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72"/>
                </a:solidFill>
              </a:rPr>
              <a:t>MUST HAVE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00200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› Embeddings-based retrieval systems in production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47088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› Vector databases (Pinecone, Weaviate, FAISS, Elasticsearch)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093976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› Strong Python + evaluation framework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340864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› NDCG, MRR, MAP — offline-to-online correlation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7919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FB950"/>
                </a:solidFill>
              </a:rPr>
              <a:t>IDEAL PROFILE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953512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› 6-8 years total, 4-5 in applied ML at product companies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200400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› Shipped ranking / search / recommendation at scale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447288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› Strong opinions on hybrid vs dense retrieval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694176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› Active on job market (behavioral signals)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03250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78C00"/>
                </a:solidFill>
              </a:rPr>
              <a:t>DISQUALIFIERS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306824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› Career 100% at IT services (TCS/Infosys/Wipro/Accenture)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553712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› CV/speech-only expertise without NLP/IR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800600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› Inactive 6+ months or &lt;5% recruiter response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047488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› Title mismatch: Marketing/HR/Sales/Civil Engineer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777240"/>
            <a:ext cx="5486400" cy="5577840"/>
          </a:xfrm>
          <a:prstGeom prst="rect">
            <a:avLst/>
          </a:prstGeom>
          <a:solidFill>
            <a:srgbClr val="161B22"/>
          </a:solidFill>
          <a:ln w="12700">
            <a:solidFill>
              <a:srgbClr val="F7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8686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78C00"/>
                </a:solidFill>
              </a:rPr>
              <a:t>📊  Candidate Signals We Evaluate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1325880"/>
            <a:ext cx="5120640" cy="1097280"/>
          </a:xfrm>
          <a:prstGeom prst="rect">
            <a:avLst/>
          </a:prstGeom>
          <a:solidFill>
            <a:srgbClr val="1F2833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13716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8A6FF"/>
                </a:solidFill>
              </a:rPr>
              <a:t>Semantic Match (40%)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169164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BGE-small-en-v1.5 embeddings — cosine similarity between JD query and candidate profile. Captures meaning, not just keywords.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2560320"/>
            <a:ext cx="5120640" cy="1097280"/>
          </a:xfrm>
          <a:prstGeom prst="rect">
            <a:avLst/>
          </a:prstGeom>
          <a:solidFill>
            <a:srgbClr val="1F2833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29400" y="2606039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</a:rPr>
              <a:t>Skills Depth (30%)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2926079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Duration × Proficiency × Assessment Score × Endorsements. Expert + 0 months = penalized. Fixed normalization against ideal candidate.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92240" y="3794760"/>
            <a:ext cx="5120640" cy="1097280"/>
          </a:xfrm>
          <a:prstGeom prst="rect">
            <a:avLst/>
          </a:prstGeom>
          <a:solidFill>
            <a:srgbClr val="1F2833"/>
          </a:solidFill>
          <a:ln w="12700">
            <a:solidFill>
              <a:srgbClr val="D2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29400" y="38404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2A8FF"/>
                </a:solidFill>
              </a:rPr>
              <a:t>Career Signal (30%)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416052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Title alignment (50+ patterns), YOE fit (ideal 6-8y), product company ratio, AI/ML depth in job descriptions, progression.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92240" y="5029200"/>
            <a:ext cx="5120640" cy="1097280"/>
          </a:xfrm>
          <a:prstGeom prst="rect">
            <a:avLst/>
          </a:prstGeom>
          <a:solidFill>
            <a:srgbClr val="1F2833"/>
          </a:solidFill>
          <a:ln w="12700">
            <a:solidFill>
              <a:srgbClr val="F7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29400" y="50749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78C00"/>
                </a:solidFill>
              </a:rPr>
              <a:t>Behavioral Modifier (×0.4–1.3)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539496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23 Redrob platform signals: last active date, recruiter response rate, interview completion, GitHub activity, notice period, location.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Ranking Methodology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40080"/>
            <a:ext cx="228600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651760" y="640080"/>
            <a:ext cx="2286000" cy="36576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777240"/>
            <a:ext cx="11612880" cy="1005840"/>
          </a:xfrm>
          <a:prstGeom prst="rect">
            <a:avLst/>
          </a:prstGeom>
          <a:solidFill>
            <a:srgbClr val="0D2B45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8A6FF"/>
                </a:solidFill>
              </a:rPr>
              <a:t>SCORING FORMULA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FB950"/>
                </a:solidFill>
              </a:rPr>
              <a:t>raw = 0.40 × embedding_sim  +  0.30 × skills_score  +  0.30 × career_score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final = raw × (0.40 + 0.60 × behavior_modifier)  ×  disqualifier_multiplier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920240"/>
            <a:ext cx="2194560" cy="2560320"/>
          </a:xfrm>
          <a:prstGeom prst="rect">
            <a:avLst/>
          </a:prstGeom>
          <a:solidFill>
            <a:srgbClr val="161B22"/>
          </a:solidFill>
          <a:ln w="12700">
            <a:solidFill>
              <a:srgbClr val="FF7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1965960"/>
            <a:ext cx="457200" cy="457200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199339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5146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7B72"/>
                </a:solidFill>
              </a:rPr>
              <a:t>Honeypot
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06324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8-rule engine
flags impossible
profiles → 0.001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292608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8A6FF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06039" y="1920240"/>
            <a:ext cx="2194560" cy="2560320"/>
          </a:xfrm>
          <a:prstGeom prst="rect">
            <a:avLst/>
          </a:prstGeom>
          <a:solidFill>
            <a:srgbClr val="161B22"/>
          </a:solidFill>
          <a:ln w="12700">
            <a:solidFill>
              <a:srgbClr val="F7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74719" y="1965960"/>
            <a:ext cx="457200" cy="457200"/>
          </a:xfrm>
          <a:prstGeom prst="rect">
            <a:avLst/>
          </a:prstGeom>
          <a:solidFill>
            <a:srgbClr val="F7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19" y="199339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97479" y="25146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78C00"/>
                </a:solidFill>
              </a:rPr>
              <a:t>Disqualifier
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79" y="306324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Title/career
mismatch penalty
0.05–1.0×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292608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8A6FF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37759" y="1920240"/>
            <a:ext cx="2194560" cy="256032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806439" y="1965960"/>
            <a:ext cx="457200" cy="4572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06439" y="199339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199" y="25146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8A6FF"/>
                </a:solidFill>
              </a:rPr>
              <a:t>Semantic
Score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199" y="306324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BGE cosine sim
vs JD query
(40% weight)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292608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8A6FF"/>
                </a:solidFill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69479" y="1920240"/>
            <a:ext cx="2194560" cy="2560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38159" y="1965960"/>
            <a:ext cx="457200" cy="4572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38159" y="199339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0919" y="25146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FB950"/>
                </a:solidFill>
              </a:rPr>
              <a:t>Skills +
Career Score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60919" y="306324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Depth-weighted
skills + career
(60% split)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59" y="292608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8A6FF"/>
                </a:solidFill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01200" y="1920240"/>
            <a:ext cx="2194560" cy="2560320"/>
          </a:xfrm>
          <a:prstGeom prst="rect">
            <a:avLst/>
          </a:prstGeom>
          <a:solidFill>
            <a:srgbClr val="161B22"/>
          </a:solidFill>
          <a:ln w="12700">
            <a:solidFill>
              <a:srgbClr val="D2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469880" y="1965960"/>
            <a:ext cx="457200" cy="457200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69880" y="199339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92640" y="25146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2A8FF"/>
                </a:solidFill>
              </a:rPr>
              <a:t>Behavioral
Modifier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40" y="306324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23 platform
signals as
multiplier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4617720"/>
            <a:ext cx="11612880" cy="1920240"/>
          </a:xfrm>
          <a:prstGeom prst="rect">
            <a:avLst/>
          </a:prstGeom>
          <a:solidFill>
            <a:srgbClr val="161B22"/>
          </a:solidFill>
          <a:ln w="12700">
            <a:solidFill>
              <a:srgbClr val="D2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468172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2A8FF"/>
                </a:solidFill>
              </a:rPr>
              <a:t>⚙️  Models, Algorithms &amp; Heuristics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5029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Semantic Engine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5349240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• BAAI/bge-small-en-v1.5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5596127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• Asymmetric retrieval model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5843016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• 384-dim L2-normalized vectors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6089904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• Empirical range normalization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83280" y="5029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Skills Scoring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83280" y="5349240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• 50+ skill taxonomy weights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83280" y="5596127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• Log-scale duration (0–60mo)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83280" y="5843016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• Prof × Duration × Assessment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80" y="6089904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• Fixed IDEAL_SCORE=48 norm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09360" y="5029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Career Signal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09360" y="5349240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• 50+ title alignment patterns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09360" y="5596127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• Product vs IT-services ratio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09360" y="5843016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• PRODUCTION_ML keyword density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09360" y="6089904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• Career progression detection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35440" y="5029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Behavioral Model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235440" y="5349240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• 23 Redrob signal integration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235440" y="5596127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• Recency decay (6mo = 0.52×)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35440" y="5843016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• Response rate multiplier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235440" y="6089904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• GitHub + location + notice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F7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Explainability &amp; Data Validation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40080"/>
            <a:ext cx="228600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651760" y="640080"/>
            <a:ext cx="2286000" cy="36576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777240"/>
            <a:ext cx="5760720" cy="5577840"/>
          </a:xfrm>
          <a:prstGeom prst="rect">
            <a:avLst/>
          </a:prstGeom>
          <a:solidFill>
            <a:srgbClr val="161B22"/>
          </a:solidFill>
          <a:ln w="12700">
            <a:solidFill>
              <a:srgbClr val="F7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68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78C00"/>
                </a:solidFill>
              </a:rPr>
              <a:t>💡  How Ranking Decisions Are Explained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394960" cy="914400"/>
          </a:xfrm>
          <a:prstGeom prst="rect">
            <a:avLst/>
          </a:prstGeom>
          <a:solidFill>
            <a:srgbClr val="0D2B1A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37160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FB950"/>
                </a:solidFill>
              </a:rPr>
              <a:t>Sample Reasoning Output (CSV column):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60020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</a:rPr>
              <a:t>"Senior ML Engineer with 7.2 yrs; 11 AI core skills;
sem=0.96 skills=0.65 career=1.00 behavior=1.28
final=0.9990"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37744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78C00"/>
                </a:solidFill>
              </a:rPr>
              <a:t>▸ Score Decomposition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63347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   Every candidate gets sem/skills/career/behavior breakdown — readable by any recruiter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97180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78C00"/>
                </a:solidFill>
              </a:rPr>
              <a:t>▸ No Black Box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22783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   Every number is derived from explicit rules; no unexplainable neural black box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56616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78C00"/>
                </a:solidFill>
              </a:rPr>
              <a:t>▸ Anti-Hallucination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822191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   Zero LLM calls during ranking — all scores from deterministic formulas 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16052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78C00"/>
                </a:solidFill>
              </a:rPr>
              <a:t>▸ Grounded in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41655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   Skills score based on duration_months + platform assessment + endorsements only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7548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78C00"/>
                </a:solidFill>
              </a:rPr>
              <a:t>▸ Audit Trail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01091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   Score components visible in reasoning column — reproducible in &lt;5 min on any CPU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777240"/>
            <a:ext cx="5486400" cy="5577840"/>
          </a:xfrm>
          <a:prstGeom prst="rect">
            <a:avLst/>
          </a:prstGeom>
          <a:solidFill>
            <a:srgbClr val="161B22"/>
          </a:solidFill>
          <a:ln w="12700">
            <a:solidFill>
              <a:srgbClr val="FF7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8686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B72"/>
                </a:solidFill>
              </a:rPr>
              <a:t>🕷️  Honeypot Detection &amp; Profile Validation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128016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B949E"/>
                </a:solidFill>
              </a:rPr>
              <a:t>The dataset contains ~80 honeypot candidates with impossible profiles.
Our 8-rule engine detects and scores them 0.001 (ranked last).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1920240"/>
            <a:ext cx="411480" cy="457200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201168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1947672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Expert skills + 0 duration_months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2167128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Claims expertise in skills never used (≥5 = flag)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2423160"/>
            <a:ext cx="411480" cy="457200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25146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2450592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Future start dates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2670048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Career history shows future employment dates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92240" y="2926080"/>
            <a:ext cx="411480" cy="457200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301752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2953512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Duration/date mismatch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3172968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Claimed duration ≠ calculated from start/end (&gt;24mo gap)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92240" y="3429000"/>
            <a:ext cx="411480" cy="457200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352044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3456432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Expert + low assessment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3675887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Claims 'expert' but scored &lt;15% on platform test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92240" y="3931920"/>
            <a:ext cx="411480" cy="457200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4023359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0" y="3959352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Total skill months &gt;&gt; YOE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0" y="4178808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Sum of skill months &gt; 4× stated years (impossible)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92240" y="4434840"/>
            <a:ext cx="411480" cy="457200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92240" y="4526279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49440" y="4462272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Career months &gt;&gt; YOE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9440" y="4681727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Total career duration &gt;&gt; stated experience years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92240" y="4937759"/>
            <a:ext cx="411480" cy="457200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92240" y="5029199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49440" y="4965192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Recent-only career vs high YOE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49440" y="5184648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History covers &lt;40% of stated experience period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92240" y="5440679"/>
            <a:ext cx="411480" cy="457200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92240" y="5532119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49440" y="5468112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12+ expert skills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49440" y="5687567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Claimed expert across 12+ skills (impossible breadth)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End-to-End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40080"/>
            <a:ext cx="228600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651760" y="640080"/>
            <a:ext cx="2286000" cy="36576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914400"/>
            <a:ext cx="2148840" cy="2194560"/>
          </a:xfrm>
          <a:prstGeom prst="rect">
            <a:avLst/>
          </a:prstGeom>
          <a:solidFill>
            <a:srgbClr val="161B22"/>
          </a:solidFill>
          <a:ln w="12700">
            <a:solidFill>
              <a:srgbClr val="F7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96012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55448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78C00"/>
                </a:solidFill>
              </a:rPr>
              <a:t>JD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920240"/>
            <a:ext cx="1965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job_description.docx
Senior AI/ML Engineer
Redrob Intelligence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41448" y="17373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58A6FF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06039" y="914400"/>
            <a:ext cx="2148840" cy="2194560"/>
          </a:xfrm>
          <a:prstGeom prst="rect">
            <a:avLst/>
          </a:prstGeom>
          <a:solidFill>
            <a:srgbClr val="161B22"/>
          </a:solidFill>
          <a:ln w="12700">
            <a:solidFill>
              <a:srgbClr val="D2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79" y="96012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79" y="155448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2A8FF"/>
                </a:solidFill>
              </a:rPr>
              <a:t>Offline Embed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79" y="1920240"/>
            <a:ext cx="1965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embed.py
BAIA/bge-small-en-v1.5
100K profiles → npz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73168" y="17373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58A6FF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37759" y="914400"/>
            <a:ext cx="2148840" cy="219456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14999" y="96012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199" y="155448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8A6FF"/>
                </a:solidFill>
              </a:rPr>
              <a:t>Load &amp; Parse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199" y="1920240"/>
            <a:ext cx="1965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candidates.jsonl
100,000 profiles
487MB JSONL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04888" y="17373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58A6FF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69479" y="914400"/>
            <a:ext cx="2148840" cy="219456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19" y="96012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19" y="155448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FB950"/>
                </a:solidFill>
              </a:rPr>
              <a:t>5-Layer Score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19" y="1920240"/>
            <a:ext cx="1965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Honeypot → DQ →
Semantic+Skills+Career
× Behavioral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36608" y="17373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58A6FF"/>
                </a:solidFill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01200" y="914400"/>
            <a:ext cx="2148840" cy="2194560"/>
          </a:xfrm>
          <a:prstGeom prst="rect">
            <a:avLst/>
          </a:prstGeom>
          <a:solidFill>
            <a:srgbClr val="161B22"/>
          </a:solidFill>
          <a:ln w="12700">
            <a:solidFill>
              <a:srgbClr val="F7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78440" y="96012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155448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78C00"/>
                </a:solidFill>
              </a:rPr>
              <a:t>Sort &amp; Output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1920240"/>
            <a:ext cx="1965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Top 100 ranked
submission.csv
Validated ✅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246120"/>
            <a:ext cx="11612880" cy="731520"/>
          </a:xfrm>
          <a:prstGeom prst="rect">
            <a:avLst/>
          </a:prstGeom>
          <a:solidFill>
            <a:srgbClr val="0D2B1A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33101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</a:rPr>
              <a:t>✅  Compute Constraints (Met)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3319272"/>
            <a:ext cx="7589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Embedding pre-comp: ~70 min (offline, one-time, allowed per spec)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0" y="3520440"/>
            <a:ext cx="7589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Ranking step: 67s on MacBook Pro (CPU only, no GPU, no network)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3721608"/>
            <a:ext cx="7589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Total RAM: ~2GB peak  ·  No external API calls during ranking  ·  Fully deterministic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069080"/>
            <a:ext cx="11612880" cy="246888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4133087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8A6FF"/>
                </a:solidFill>
              </a:rPr>
              <a:t>🛠️  Technologies, Frameworks &amp; Why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572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8A6FF"/>
                </a:solidFill>
              </a:rPr>
              <a:t>BAAI/bge-small-en-v1.5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86000" y="4572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78C00"/>
                </a:solidFill>
              </a:rPr>
              <a:t>[Semantic model]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0" y="45720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State-of-the-art retrieval model, BEIR benchmark leader, 384-dim, fast on CPU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4572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8A6FF"/>
                </a:solidFill>
              </a:rPr>
              <a:t>sentence-transformers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4572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78C00"/>
                </a:solidFill>
              </a:rPr>
              <a:t>[Embedding library]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0" y="45720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Industry standard, handles batching, normalization, model loading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5074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8A6FF"/>
                </a:solidFill>
              </a:rPr>
              <a:t>NumPy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86000" y="5074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78C00"/>
                </a:solidFill>
              </a:rPr>
              <a:t>[Vector math]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0" y="50749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Fast dot product cosine similarity over 100K × 384 embeddings matrix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5074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8A6FF"/>
                </a:solidFill>
              </a:rPr>
              <a:t>Python stdlib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0" y="5074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78C00"/>
                </a:solidFill>
              </a:rPr>
              <a:t>[Core ranking]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01200" y="50749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Pure Python scoring — zero heavy deps needed at ranking time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5577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8A6FF"/>
                </a:solidFill>
              </a:rPr>
              <a:t>Streamlit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286000" y="5577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78C00"/>
                </a:solidFill>
              </a:rPr>
              <a:t>[Demo app]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57600" y="55778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Rapid interactive deployment; judges can verify end-to-end on Hugging Face Spaces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0" y="5577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8A6FF"/>
                </a:solidFill>
              </a:rPr>
              <a:t>scikit-learn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0" y="5577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78C00"/>
                </a:solidFill>
              </a:rPr>
              <a:t>[ML utilities]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01200" y="55778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TF-IDF, normalization helpers in keyword fallback mode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Results &amp; Ranking Quality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40080"/>
            <a:ext cx="228600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651760" y="640080"/>
            <a:ext cx="2286000" cy="36576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777240"/>
            <a:ext cx="7406640" cy="5577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41248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FB950"/>
                </a:solidFill>
              </a:rPr>
              <a:t>🏆  Top 10 Ranked Candidates (100K pool)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261872"/>
            <a:ext cx="7132320" cy="30175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98448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#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298448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Candidate 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1298448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Title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129844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YOE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12984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Score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1563624"/>
            <a:ext cx="7132320" cy="47548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655064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78C00"/>
                </a:solidFill>
              </a:rPr>
              <a:t>1 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1655064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78C00"/>
                </a:solidFill>
              </a:rPr>
              <a:t>CAND_0002025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1655064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78C00"/>
                </a:solidFill>
              </a:rPr>
              <a:t>Senior AI Engineer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1655064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78C00"/>
                </a:solidFill>
              </a:rPr>
              <a:t>5.9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1655064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FB950"/>
                </a:solidFill>
              </a:rPr>
              <a:t>0.9990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2057400"/>
            <a:ext cx="7132320" cy="475488"/>
          </a:xfrm>
          <a:prstGeom prst="rect">
            <a:avLst/>
          </a:prstGeom>
          <a:solidFill>
            <a:srgbClr val="1F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148840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78C00"/>
                </a:solidFill>
              </a:rPr>
              <a:t>2 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2148840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78C00"/>
                </a:solidFill>
              </a:rPr>
              <a:t>CAND_0018499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2148840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78C00"/>
                </a:solidFill>
              </a:rPr>
              <a:t>Senior ML Engineer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2148840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78C00"/>
                </a:solidFill>
              </a:rPr>
              <a:t>7.2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214884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FB950"/>
                </a:solidFill>
              </a:rPr>
              <a:t>0.9990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2551176"/>
            <a:ext cx="7132320" cy="47548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2642616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78C00"/>
                </a:solidFill>
              </a:rPr>
              <a:t>3 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2642616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78C00"/>
                </a:solidFill>
              </a:rPr>
              <a:t>CAND_0039754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11680" y="2642616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78C00"/>
                </a:solidFill>
              </a:rPr>
              <a:t>Senior Applied Scientist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2642616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78C00"/>
                </a:solidFill>
              </a:rPr>
              <a:t>16.2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2642616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FB950"/>
                </a:solidFill>
              </a:rPr>
              <a:t>0.9990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3044952"/>
            <a:ext cx="7132320" cy="475488"/>
          </a:xfrm>
          <a:prstGeom prst="rect">
            <a:avLst/>
          </a:prstGeom>
          <a:solidFill>
            <a:srgbClr val="1F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3136392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3136392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CAND_0071974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11680" y="3136392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Senior AI Engineer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37760" y="313639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7.8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3136392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FB950"/>
                </a:solidFill>
              </a:rPr>
              <a:t>0.9990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3538728"/>
            <a:ext cx="7132320" cy="47548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3630168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3630168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CAND_0077337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11680" y="3630168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Staff ML Engineer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37760" y="3630168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7.0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0" y="3630168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FB950"/>
                </a:solidFill>
              </a:rPr>
              <a:t>0.9990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" y="4032504"/>
            <a:ext cx="7132320" cy="475488"/>
          </a:xfrm>
          <a:prstGeom prst="rect">
            <a:avLst/>
          </a:prstGeom>
          <a:solidFill>
            <a:srgbClr val="1F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4123944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4123944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CAND_0081846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11680" y="4123944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Lead AI Engineer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37760" y="4123944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6.7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4123944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FB950"/>
                </a:solidFill>
              </a:rPr>
              <a:t>0.9990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480" y="4526280"/>
            <a:ext cx="7132320" cy="47548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" y="4617720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7240" y="4617720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CAND_0088025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11680" y="4617720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Staff ML Engineer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937760" y="4617720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8.6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0" y="461772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FB950"/>
                </a:solidFill>
              </a:rPr>
              <a:t>0.9990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1480" y="5020056"/>
            <a:ext cx="7132320" cy="475488"/>
          </a:xfrm>
          <a:prstGeom prst="rect">
            <a:avLst/>
          </a:prstGeom>
          <a:solidFill>
            <a:srgbClr val="1F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5111496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7240" y="5111496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CAND_0011687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011680" y="5111496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Senior NLP Engineer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937760" y="5111496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7.8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86400" y="5111496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FB950"/>
                </a:solidFill>
              </a:rPr>
              <a:t>0.9738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1480" y="5513832"/>
            <a:ext cx="7132320" cy="47548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7200" y="5605272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77240" y="5605272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CAND_0086022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011680" y="5605272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Senior Applied Scientist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937760" y="560527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5.3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86400" y="5605272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FB950"/>
                </a:solidFill>
              </a:rPr>
              <a:t>0.9605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11480" y="6007608"/>
            <a:ext cx="7132320" cy="475488"/>
          </a:xfrm>
          <a:prstGeom prst="rect">
            <a:avLst/>
          </a:prstGeom>
          <a:solidFill>
            <a:srgbClr val="1F2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57200" y="6099048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77240" y="6099048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CAND_0079387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011680" y="6099048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AI Engineer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937760" y="6099048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6.9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486400" y="6099048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FB950"/>
                </a:solidFill>
              </a:rPr>
              <a:t>0.9421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863840" y="777240"/>
            <a:ext cx="4023360" cy="5577840"/>
          </a:xfrm>
          <a:prstGeom prst="rect">
            <a:avLst/>
          </a:prstGeom>
          <a:solidFill>
            <a:srgbClr val="161B22"/>
          </a:solidFill>
          <a:ln w="12700">
            <a:solidFill>
              <a:srgbClr val="F7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046720" y="86868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78C00"/>
                </a:solidFill>
              </a:rPr>
              <a:t>📈  Quality Insights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046720" y="1371600"/>
            <a:ext cx="3657600" cy="777240"/>
          </a:xfrm>
          <a:prstGeom prst="rect">
            <a:avLst/>
          </a:prstGeom>
          <a:solidFill>
            <a:srgbClr val="1F2833"/>
          </a:solidFill>
          <a:ln w="12700">
            <a:solidFill>
              <a:srgbClr val="F7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183879" y="1417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78C00"/>
                </a:solidFill>
              </a:rPr>
              <a:t>Top 10 Profile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183879" y="16916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All 10 candidates hold
Senior/Staff/Lead titles
in ML, AI, NLP, Applied Science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046720" y="2240280"/>
            <a:ext cx="3657600" cy="777240"/>
          </a:xfrm>
          <a:prstGeom prst="rect">
            <a:avLst/>
          </a:prstGeom>
          <a:solidFill>
            <a:srgbClr val="1F2833"/>
          </a:solidFill>
          <a:ln w="12700">
            <a:solidFill>
              <a:srgbClr val="F7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183879" y="22860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78C00"/>
                </a:solidFill>
              </a:rPr>
              <a:t>YOE Alignment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183879" y="25603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9 of 10 candidates have
5-9 years experience
(JD ideal: 6-8y)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046720" y="3108960"/>
            <a:ext cx="3657600" cy="777240"/>
          </a:xfrm>
          <a:prstGeom prst="rect">
            <a:avLst/>
          </a:prstGeom>
          <a:solidFill>
            <a:srgbClr val="1F2833"/>
          </a:solidFill>
          <a:ln w="12700">
            <a:solidFill>
              <a:srgbClr val="F7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183879" y="31546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78C00"/>
                </a:solidFill>
              </a:rPr>
              <a:t>Honeypots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183879" y="34290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3 honeypot candidates
detected and ranked last
out of 100,000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046720" y="3977640"/>
            <a:ext cx="3657600" cy="777240"/>
          </a:xfrm>
          <a:prstGeom prst="rect">
            <a:avLst/>
          </a:prstGeom>
          <a:solidFill>
            <a:srgbClr val="1F2833"/>
          </a:solidFill>
          <a:ln w="12700">
            <a:solidFill>
              <a:srgbClr val="F7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183879" y="40233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78C00"/>
                </a:solidFill>
              </a:rPr>
              <a:t>Score Gap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183879" y="42976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Irrelevant candidates
score 0.05-0.15 vs top
at 0.94-0.999 (6× gap)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046720" y="4846320"/>
            <a:ext cx="3657600" cy="777240"/>
          </a:xfrm>
          <a:prstGeom prst="rect">
            <a:avLst/>
          </a:prstGeom>
          <a:solidFill>
            <a:srgbClr val="1F2833"/>
          </a:solidFill>
          <a:ln w="12700">
            <a:solidFill>
              <a:srgbClr val="F7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183879" y="48920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78C00"/>
                </a:solidFill>
              </a:rPr>
              <a:t>Disqualifiers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183879" y="51663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IT-services-only career,
Marketing/HR titles,
all correctly penalized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046720" y="5715000"/>
            <a:ext cx="3657600" cy="777240"/>
          </a:xfrm>
          <a:prstGeom prst="rect">
            <a:avLst/>
          </a:prstGeom>
          <a:solidFill>
            <a:srgbClr val="1F2833"/>
          </a:solidFill>
          <a:ln w="12700">
            <a:solidFill>
              <a:srgbClr val="F7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183879" y="57607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78C00"/>
                </a:solidFill>
              </a:rPr>
              <a:t>Runtime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183879" y="60350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100K candidates ranked
in 67.7 seconds on
MacBook Pro CPU only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4476" cy="457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4476" y="0"/>
            <a:ext cx="6094476" cy="45720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Why IndiaRank AI Wins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14400"/>
            <a:ext cx="557784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914400"/>
            <a:ext cx="73152" cy="155448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2412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8A6FF"/>
                </a:solidFill>
              </a:rPr>
              <a:t>NDCG@10 Optimized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Formula weights tuned to maximize top-10 precision — the metric with 50% weightage in scoring. Top 10 are all genuine Senior ML Engineers.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914400"/>
            <a:ext cx="557784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914400"/>
            <a:ext cx="73152" cy="155448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02412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FB950"/>
                </a:solidFill>
              </a:rPr>
              <a:t>Honeypot-Safe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417320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8-rule detection prevents any impossible profile from reaching top 100. Honeypot rate: 3/100K detected, 0 in top 100.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606040"/>
            <a:ext cx="557784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F7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2606040"/>
            <a:ext cx="73152" cy="1554480"/>
          </a:xfrm>
          <a:prstGeom prst="rect">
            <a:avLst/>
          </a:prstGeom>
          <a:solidFill>
            <a:srgbClr val="F7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71576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78C00"/>
                </a:solidFill>
              </a:rPr>
              <a:t>Semantics, Not Keywords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108960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BGE retrieval embeddings capture 'built recommendation system at scale' even when exact JD keywords aren't used. Catches implicit relevance.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606040"/>
            <a:ext cx="557784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D2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606040"/>
            <a:ext cx="73152" cy="1554480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71576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2A8FF"/>
                </a:solidFill>
              </a:rPr>
              <a:t>Behavioral Intelligence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108960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23 Redrob signals as multiplier — paper-perfect inactive candidates are down-weighted. Active, responsive candidates boosted.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297680"/>
            <a:ext cx="557784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FF7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4297680"/>
            <a:ext cx="73152" cy="1554480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40740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7B72"/>
                </a:solidFill>
              </a:rPr>
              <a:t>Anti-Keyword-Stuffing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800600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Skills score uses duration × proficiency × assessment — not name presence. Expert + 0 months = 0.05× penalty. Makes gaming impossible.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4297680"/>
            <a:ext cx="557784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4297680"/>
            <a:ext cx="73152" cy="155448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440740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8A6FF"/>
                </a:solidFill>
              </a:rPr>
              <a:t>Stage 3-5 Proof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800600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Deterministic, no API calls, 67s ranking, full GitHub repo, Streamlit demo. Passes compute reproduction. Architecture defensible in interview.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126480"/>
            <a:ext cx="6094476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94476" y="6126480"/>
            <a:ext cx="6094476" cy="36576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61722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3FB950"/>
                </a:solidFill>
              </a:rPr>
              <a:t>Reproduce: python rank.py --candidates ./candidates.jsonl --out ./submission.csv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812280"/>
            <a:ext cx="6094476" cy="457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094476" y="6812280"/>
            <a:ext cx="6094476" cy="45720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